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54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91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273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638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997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362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721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086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445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810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516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53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1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09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818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18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542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0859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7542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4224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266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8583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266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1948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990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2990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9672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071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403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071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39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54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91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4273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638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997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362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721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6404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086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4128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7445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4128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0810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185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16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85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53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209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541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209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77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818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3135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9818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7542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0859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7542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4224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5266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8583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5266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1948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2990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6307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2990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9672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071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403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4071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739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654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323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991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0956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4273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0956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7638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8680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997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8680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5362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721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6404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3086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4128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445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4128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0810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185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2516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185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7853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209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541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209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877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9818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9818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6500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7542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30859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7542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4224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5266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5266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61948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2990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6307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2990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39672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4071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6403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071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1739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654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991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90956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4273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0956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7638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8680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91997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68680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5362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46404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9721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46404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23086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24128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7445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24128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0810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0185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2516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185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7853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5209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541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09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877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9818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3135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9818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6500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7542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0859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07542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4224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85266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08583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5266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1948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62990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86307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62990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39672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4071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6403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4071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1739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323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654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1323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8991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0956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14273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0956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7638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8680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1997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8680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45362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404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69721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6404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3086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24128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7445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24128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00810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0185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2516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0185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7853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000" dirty="0"/>
          </a:p>
        </p:txBody>
      </p:sp>
      <p:sp>
        <p:nvSpPr>
          <p:cNvPr id="219" name="Shape 217"/>
          <p:cNvSpPr/>
          <p:nvPr/>
        </p:nvSpPr>
        <p:spPr>
          <a:xfrm rot="2700000">
            <a:off x="640080" y="429768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2700000">
            <a:off x="731520" y="4389120"/>
            <a:ext cx="228600" cy="2286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1280160" y="42793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</a:t>
            </a:r>
            <a:endParaRPr lang="en-US" sz="3600" dirty="0"/>
          </a:p>
        </p:txBody>
      </p:sp>
      <p:sp>
        <p:nvSpPr>
          <p:cNvPr id="222" name="Text 220"/>
          <p:cNvSpPr/>
          <p:nvPr/>
        </p:nvSpPr>
        <p:spPr>
          <a:xfrm>
            <a:off x="640080" y="5029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INSTITUCIONAL DE PORTFOLIOS</a:t>
            </a:r>
            <a:endParaRPr lang="en-US" sz="2200" dirty="0"/>
          </a:p>
        </p:txBody>
      </p:sp>
      <p:sp>
        <p:nvSpPr>
          <p:cNvPr id="223" name="Text 221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quantitativo da vertical Wealth — apresentação interna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737360" y="1874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estratégico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2286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construção de portfolio é o núcleo da proposta Netz Wealth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737360" y="2926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337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11 passos e otimizador CLARABEL em cascata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737360" y="3977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e governança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testing, regime, turnover, auditabilidade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737360" y="5029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5440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competitiva e próximos passos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54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91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273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638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997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362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721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086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445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810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516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53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1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09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818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18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542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0859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7542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4224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266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8583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266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1948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990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2990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9672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071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403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071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39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54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91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4273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638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997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362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721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6404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086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4128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7445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4128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0810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185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16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85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53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209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541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209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77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818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3135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9818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7542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0859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7542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4224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5266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8583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5266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1948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2990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6307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2990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9672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071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403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4071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739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654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323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991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0956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4273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0956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7638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8680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997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8680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5362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721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6404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3086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4128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445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4128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0810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185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2516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185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7853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209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541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209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877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9818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9818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6500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7542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30859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7542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4224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5266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5266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61948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2990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6307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2990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39672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4071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6403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071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1739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654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991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90956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4273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0956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7638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8680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91997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68680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5362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46404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9721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46404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23086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24128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7445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24128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0810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0185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2516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185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7853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5209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541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09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877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9818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3135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9818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6500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7542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0859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07542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4224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85266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08583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5266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1948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62990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86307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62990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39672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4071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6403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4071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1739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323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654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1323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8991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0956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14273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0956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7638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8680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1997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8680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45362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404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69721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6404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3086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24128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7445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24128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00810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0185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2516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0185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7853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144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220" name="Text 218"/>
          <p:cNvSpPr/>
          <p:nvPr/>
        </p:nvSpPr>
        <p:spPr>
          <a:xfrm>
            <a:off x="914400" y="3611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ESTRATÉGICO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Estratégico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da proposta Netz Wealth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gestão institucional de patrimônio, imprevisibilidade é risco operacional inaceitável.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5577840" cy="182880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77440"/>
            <a:ext cx="73152" cy="18288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0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institucional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esperam decisões auditáveis, replicáveis e ancoradas em metodologia reconhecida — não opinião.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5577840" cy="182880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377440"/>
            <a:ext cx="73152" cy="18288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560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global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unificado de ~50 mil fundos em 6 universos (SEC, ESMA), com métricas pré-computadas para todos.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5577840" cy="182880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73152" cy="18288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quantitativo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11 passos combina Black-Litterman, shrinkage, CVaR condicional a regime e GARCH por fundo.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577840" cy="182880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389120"/>
            <a:ext cx="73152" cy="18288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 estresse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50292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cenários paramétricos (GFC, COVID, Taper, Rate Shock) executados em cada construção.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54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91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273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638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997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362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721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086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445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810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516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53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1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09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818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18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542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0859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7542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4224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266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8583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266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1948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990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2990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9672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071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403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071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39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54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91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4273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638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997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362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721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6404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086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4128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7445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4128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0810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185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16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85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53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209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541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209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77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818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3135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9818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7542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0859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7542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4224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5266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8583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5266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1948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2990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6307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2990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9672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071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403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4071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739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654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323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991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0956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4273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0956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7638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8680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997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8680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5362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721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6404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3086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4128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445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4128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0810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185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2516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185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7853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209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541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209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877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9818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9818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6500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7542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30859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7542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4224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5266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5266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61948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2990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6307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2990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39672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4071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6403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071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1739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654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991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90956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4273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0956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7638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8680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91997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68680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5362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46404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9721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46404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23086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24128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7445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24128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0810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0185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2516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185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7853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5209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541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09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877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9818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3135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9818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6500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7542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0859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07542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4224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85266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08583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5266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1948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62990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86307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62990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39672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4071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6403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4071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1739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323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654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1323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8991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0956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14273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0956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7638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8680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1997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8680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45362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404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69721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6404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3086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24128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7445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24128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00810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0185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2516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0185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7853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144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220" name="Text 218"/>
          <p:cNvSpPr/>
          <p:nvPr/>
        </p:nvSpPr>
        <p:spPr>
          <a:xfrm>
            <a:off x="914400" y="3611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construção — 11 passos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execução passa pelos mesmos estágios, em ordem determinística. Resultado é reprodutível e auditável.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286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aprovado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3 camadas: eliminatório → mandate fit → quant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19456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2286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do 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portfolio_views, input do Black-Litterman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19456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20840" y="2286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(prior CAPM + views com confiança)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61120" y="219456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55480" y="22860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Covariância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98280" y="26517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Ledoit-Wolf shrinkage, condicionada a regime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383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SOCP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749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incerteza elipsoidais (Phase 1.5)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329184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86200" y="3383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condicional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29000" y="3749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Multiplicadores por regime (RISK_OFF=0.85, CRISIS=0.70)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329184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20840" y="3383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cascata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3749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CLARABEL 4 fases + fallback heurístico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61120" y="329184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555480" y="3383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penalty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98280" y="3749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slack — minimiza custo de implementação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51560" y="4480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/ GARCH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94360" y="4846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volatilidade condicional por fundo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91840" y="438912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900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886200" y="4480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429000" y="4846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GFC, COVID, Taper, Rate Shock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26480" y="4389120"/>
            <a:ext cx="2743200" cy="9601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4480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720840" y="4480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+ crítico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263640" y="4846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Jinja2 + revisão adversarial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— expected returns com convicção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usar média histórica?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históricos são instáveis, sensíveis a outliers e produzem portfolios concentrados. Ignoram a visão do Comitê de Investimento.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Netz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 equilíbrio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implícitos no market cap global (CAPM inverso)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do IC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Armazenadas em portfolio_views com confiança explícita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bayesiano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+ views ponderadas → retornos estáveis e alinhados à tese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entrega ao cliente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3317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menos concentrados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Alocações que refletem a visão macro do IC sem sobrescrever o mercado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view é rastreável ao member do comitê que a propôs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confiança controla quanto a view move o portfolio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Covariância — shrinkage e consciência de regime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3749040" cy="228600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Ledoit-Wolf shrinkage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 matriz empírica com um alvo estruturado, reduzindo ruído de estimação em janelas curtas.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783080"/>
            <a:ext cx="3749040" cy="228600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1772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Condicionamento por regime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3108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curta em stress (captura ruptura rápida) e longa em normalidade (suaviza oscilação).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783080"/>
            <a:ext cx="3749040" cy="228600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50392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Marchenko-Pastur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03920" y="3108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autovalores espúrios, preserva estrutura fatorial — usado também no módulo de correlação.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1247120" cy="164592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regime de crise, o portfolio reage ao aumento real de correlação entre ativos — não ao histórico de 5 anos que já está desatualizado. Em normalidade, evita reagir a volatilidade pontual. Classificador de regime é o mesmo módulo usado em monitoramento diário (quant_engine/regime_service).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 CLARABEL — cascata em 4 fases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fase ideal falhar (infactibilidade, constraints agressivas, ativo ilíquido), o sistema degrada de forma controlada. Nunca entrega alocação quebrada.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267712" cy="283464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688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risk-adjusted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Sharpe com todas as constraints ativas — alvo padrão.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16352" y="2286000"/>
            <a:ext cx="2267712" cy="283464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24688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1.5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99232" y="29260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SOCP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99232" y="374904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robusta contra erro de estimação (elipsoides de incerteza).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75504" y="2286000"/>
            <a:ext cx="2267712" cy="283464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8384" y="24688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58384" y="29260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Variance-capped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58384" y="374904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 objetivo, mantém teto de variância — soluções mais amplas.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34656" y="2286000"/>
            <a:ext cx="2267712" cy="283464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7536" y="24688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17536" y="29260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Min-variance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17536" y="374904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recurso convexo: menor variância possível dentro das constraints.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93808" y="2286000"/>
            <a:ext cx="2267712" cy="283464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76688" y="24688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76688" y="29260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76688" y="374904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por score ajustados a limites — portfolio sempre produzido.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aceita fallback de solver (CLARABEL → SCS) antes de degradar para a próxima fase. 100% dos casos retornam portfolio, mesmo com dados parciais.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cauda — CVaR condicionado a regime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CVaR?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Value-at-Risk: perda média esperada nos 5% piores cenários. Captura cauda — VaR apenas diz o ponto, CVaR diz o quão fundo.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condicionar a regime?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stress, caudas engordam e correlações convergem. Um CVaR calibrado em janela benigna subestima perdas. Netz aplica multiplicador condicional ao regime detectado.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645920"/>
            <a:ext cx="5303520" cy="42062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Multiplicadores por regime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0" y="2468880"/>
            <a:ext cx="48463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468880"/>
            <a:ext cx="73152" cy="73152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560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2560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8529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337560"/>
            <a:ext cx="48463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3337560"/>
            <a:ext cx="73152" cy="73152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RISK_OFF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3429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7216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 tolerância de cauda em 15%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4206240"/>
            <a:ext cx="48463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D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4206240"/>
            <a:ext cx="73152" cy="73152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297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4297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45902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tolerância em 30% — portfolio defensivo automático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fatores e volatilidade por fundo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577840" cy="429768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73152" cy="429768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— PCA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em componentes principais sobre retornos do universo aprovado. Identifica direções dominantes de risco — tipicamente fator macro, growth vs value, duration.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Betas por fundo para cada fator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Brinson-Fachler alimentada por fatores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concentração de risco por fator (não só por ativo)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577840" cy="429768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por fundo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2468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condicional estimada individualmente para cada instrumento do universo. Captura agrupamento de volatilidade (cluster de períodos voláteis) que média histórica ignora.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343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volatility_garch pré-computada em fund_risk_metrics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conditional (cvar_95_conditional) calculado a partir do GARCH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tenants veem métricas atualizadas diariamente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54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91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273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638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997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362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721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086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445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810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516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53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1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09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818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18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542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0859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7542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4224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266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8583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266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1948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990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2990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9672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071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403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071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39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54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91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4273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638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997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362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721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6404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086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4128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7445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4128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0810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185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16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85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53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209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541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209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77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818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3135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9818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7542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0859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7542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4224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5266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8583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5266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1948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2990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6307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2990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9672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071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403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4071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739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654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323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991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0956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4273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0956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7638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8680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997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8680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5362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721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6404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3086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4128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445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4128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0810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185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2516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185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7853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209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541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209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877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9818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9818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6500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7542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30859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7542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4224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5266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5266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61948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2990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6307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2990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39672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4071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6403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071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1739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654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991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90956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4273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0956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7638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8680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91997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68680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5362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46404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9721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46404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23086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24128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7445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24128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0810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0185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2516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185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7853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5209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541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09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877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9818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3135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9818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6500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7542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0859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07542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4224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85266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08583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5266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1948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62990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86307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62990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39672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4071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6403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4071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1739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323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654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1323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8991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0956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14273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0956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7638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8680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1997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8680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45362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404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69721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6404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3086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24128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7445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24128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00810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0185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2516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0185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7853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144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220" name="Text 218"/>
          <p:cNvSpPr/>
          <p:nvPr/>
        </p:nvSpPr>
        <p:spPr>
          <a:xfrm>
            <a:off x="914400" y="3611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E GOVERNANÇA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e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— 4 cenários em cada portfolio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módulo separado que o gestor lembra de rodar. Cada construção passa por stress antes de ser considerada válida.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5577840" cy="19202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73152" cy="19202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 2008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−38%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de referência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 simultâneo em crédito, equity e liquidez. Correlação 1 entre ativos de risco.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194560"/>
            <a:ext cx="5577840" cy="19202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194560"/>
            <a:ext cx="73152" cy="19202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março 2020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4984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0976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de referência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30632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curto e profundo, recuperação rápida. Teste de liquidez em janela estreita.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5577840" cy="19202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51960"/>
            <a:ext cx="73152" cy="19202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Tantrum 2013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89120" y="4434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de referência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5120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 de duration. Spreads abrem sem recessão. Fundos de renda fixa pressionados.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251960"/>
            <a:ext cx="5577840" cy="19202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251960"/>
            <a:ext cx="73152" cy="19202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Shock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49840" y="4434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0976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de referência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120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 paramétrico custom: +300bps em 90 dias. Calibrável pelo cliente.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e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e custo — otimização com penalidade L1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sistemas tradicionais escondem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 puro recomenda trocas que, na prática, custam mais em taxa e impacto de mercado do que o ganho esperado. O cliente compra "rebalanceamento excessivo".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749040" cy="246888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91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slack penalty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|Δ| pesos entra no objetivo. Incentiva manter posições atuais salvo ganho claro.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017520"/>
            <a:ext cx="3749040" cy="246888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291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analisado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17720" y="4206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rebalancing/impact_analyzer projeta custo e prazo de execução antes da aprovação.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017520"/>
            <a:ext cx="3749040" cy="246888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291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ao IC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0" y="42062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trades com score líquido positivo são exibidos. Rationale é gerado automaticamente.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e 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— tudo que entra num portfolio é auditável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3749040" cy="14630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37360"/>
            <a:ext cx="3749040" cy="73152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20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determinístico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2860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otimização é cacheada por SHA-256 dos inputs (inclui data). Reproduzir uma decisão antiga é questão de segundos.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737360"/>
            <a:ext cx="3749040" cy="14630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737360"/>
            <a:ext cx="3749040" cy="73152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20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imutável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CREATE/UPDATE/DELETE em entidades de portfolio registram snapshots JSONB before/after, correlacionados por request_id.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1737360"/>
            <a:ext cx="3749040" cy="14630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737360"/>
            <a:ext cx="3749040" cy="73152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920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adversarial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58200" y="22860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critic revisa cada construção antes de liberar — circuit-breaker, 3min timeout, bloqueia emissão em caso de inconsistência.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3749040" cy="14630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37560"/>
            <a:ext cx="3749040" cy="73152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20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rastreável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8862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da construção é gerado por Jinja2 sandboxed sobre os mesmos dados do otimizador. Zero risco de descompasso entre texto e números.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43400" y="3337560"/>
            <a:ext cx="3749040" cy="14630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337560"/>
            <a:ext cx="3749040" cy="73152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520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por desenho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38862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(Row-Level Security) em PostgreSQL + subselect garante isolamento entre clientes. Nenhuma query cruza organization_id.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0" y="3337560"/>
            <a:ext cx="3749040" cy="146304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337560"/>
            <a:ext cx="3749040" cy="73152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3520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four-eyes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38862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de fundos e views do IC têm workflow de aprovação explícito. Mudanças não entram em produção sem segunda assinatura.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54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91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273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638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997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362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721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086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445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810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516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53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1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09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818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18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542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0859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7542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4224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266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8583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266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1948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990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2990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9672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071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403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071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39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54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91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4273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638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997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362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721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6404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086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4128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7445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4128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0810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185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16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85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53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209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541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209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77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818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3135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9818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7542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0859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7542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4224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5266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8583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5266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1948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2990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6307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2990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9672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071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403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4071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739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654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323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991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0956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4273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0956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7638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8680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997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8680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5362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721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6404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3086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4128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445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4128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0810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185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2516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185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7853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209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541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209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877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9818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9818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6500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7542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30859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7542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4224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5266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5266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61948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2990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6307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2990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39672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4071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6403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071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1739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654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991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90956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4273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0956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7638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8680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91997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68680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5362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46404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9721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46404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23086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24128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7445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24128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0810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0185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2516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185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7853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5209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541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09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877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9818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3135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9818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6500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7542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0859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07542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4224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85266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08583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5266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1948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62990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86307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62990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39672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4071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6403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4071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1739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323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654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1323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8991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0956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14273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0956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7638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8680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1997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8680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45362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404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69721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6404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3086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24128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7445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24128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00810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0185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2516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0185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7853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144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220" name="Text 218"/>
          <p:cNvSpPr/>
          <p:nvPr/>
        </p:nvSpPr>
        <p:spPr>
          <a:xfrm>
            <a:off x="914400" y="3611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— o que a concorrência não entrega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banking tradicional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Wealthtech genérica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Netz Wealth 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 do IC no otimizador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 (Mean-Variance)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Black-Litterman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Consciência de 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Multiplicadores CVaR automáticos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Universo global auditável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Curadoria limitada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ETFs + MF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~50k fundos SEC + ESMA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em cada construção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 / sob demanda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 único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cenários + custom em 100% das rodadas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SOCP (erro de estimação)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1.5 dedicada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imutável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+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parciais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5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 before/after, reprodutível por SHA-256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0" y="201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515600" y="201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8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B1F5C"/>
          </a:solidFill>
          <a:ln w="12700">
            <a:solidFill>
              <a:srgbClr val="0B1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37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rot="2700000">
            <a:off x="11686032" y="6601968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41480" y="6601968"/>
            <a:ext cx="109728" cy="109728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— onde alocar investimento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097280" cy="36576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822960" cy="3200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842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de cenários de stress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880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cenários calibrados a choques ibéricos e emergentes específicos (BR, MX). Infra já pronta — custo é curadoria.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965960"/>
            <a:ext cx="822960" cy="3200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9842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423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quantitativas complementares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views qualitativas do IC com views geradas por modelo (momentum, regime). Hoje o campo existe mas só aceita input humano.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206240"/>
            <a:ext cx="822960" cy="3200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224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663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 multi-período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5120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horizonte e glide path (hoje é single-period). Relevante para fundos de aposentadoria e objetivos com prazo.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5577840" cy="2103120"/>
          </a:xfrm>
          <a:prstGeom prst="rect">
            <a:avLst/>
          </a:prstGeom>
          <a:solidFill>
            <a:srgbClr val="F7F8FB"/>
          </a:solidFill>
          <a:ln w="6350">
            <a:solidFill>
              <a:srgbClr val="D9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206240"/>
            <a:ext cx="822960" cy="32004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224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4663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de mandato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51206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histórico das 11 etapas sobre a data de origem para validar o mandato do cliente antes da assinatura.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54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991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4273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0956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638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997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362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721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086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7445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0810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-5029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51692" y="18288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1605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5348" y="18288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1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09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818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3135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818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500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542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0859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7542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4224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266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8583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266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1948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990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2990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9672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407140" y="61036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40312" y="84353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407140" y="107670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73968" y="84353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54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91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4273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638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997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362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721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6404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3086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24128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7445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4128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0810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18520" y="127101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1692" y="150418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8520" y="173736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5348" y="150418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209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541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209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77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9818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3135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29818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7542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0859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7542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4224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85266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8583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5266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1948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2990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6307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2990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9672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07140" y="193167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40312" y="216484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407140" y="239801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173968" y="216484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323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654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1323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991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90956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14273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0956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7638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68680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997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8680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45362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9721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6404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3086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24128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445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4128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0810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018520" y="2592324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251692" y="2825496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18520" y="3058668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785348" y="2825496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5209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541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5209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877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9818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3135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9818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6500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7542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30859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7542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4224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85266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5266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61948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62990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86307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62990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39672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407140" y="3252978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640312" y="3486150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407140" y="3719322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173968" y="3486150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1323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654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323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991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90956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4273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0956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7638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8680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91997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68680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5362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46404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9721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46404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23086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24128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7445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24128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0810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018520" y="3913632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251692" y="4146804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018520" y="4379976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785348" y="4146804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5209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541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09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2877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29818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3135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29818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6500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7542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30859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07542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84224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85266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08583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5266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61948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62990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86307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62990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39672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407140" y="4574286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640312" y="4807458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407140" y="5040630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173968" y="4807458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323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654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1323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8991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0956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14273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90956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67638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8680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1997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8680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45362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46404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69721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6404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3086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24128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7445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24128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00810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1018520" y="5234940"/>
            <a:ext cx="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251692" y="5468112"/>
            <a:ext cx="-233172" cy="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018520" y="5701284"/>
            <a:ext cx="-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785348" y="5468112"/>
            <a:ext cx="233172" cy="-233172"/>
          </a:xfrm>
          <a:prstGeom prst="line">
            <a:avLst/>
          </a:prstGeom>
          <a:noFill/>
          <a:ln w="9525">
            <a:solidFill>
              <a:srgbClr val="E8824B">
                <a:alpha val="6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24B"/>
          </a:solidFill>
          <a:ln w="12700">
            <a:solidFill>
              <a:srgbClr val="E8824B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5400" dirty="0"/>
          </a:p>
        </p:txBody>
      </p:sp>
      <p:sp>
        <p:nvSpPr>
          <p:cNvPr id="220" name="Text 218"/>
          <p:cNvSpPr/>
          <p:nvPr/>
        </p:nvSpPr>
        <p:spPr>
          <a:xfrm>
            <a:off x="91440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gestão institucional de patrimônio,</a:t>
            </a:r>
            <a:endParaRPr lang="en-US" sz="1800" dirty="0"/>
          </a:p>
        </p:txBody>
      </p:sp>
      <p:sp>
        <p:nvSpPr>
          <p:cNvPr id="221" name="Text 219"/>
          <p:cNvSpPr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B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imprevisibilidade é risco operacional inaceitável.</a:t>
            </a:r>
            <a:endParaRPr lang="en-US" sz="1800" dirty="0"/>
          </a:p>
        </p:txBody>
      </p:sp>
      <p:sp>
        <p:nvSpPr>
          <p:cNvPr id="222" name="Text 220"/>
          <p:cNvSpPr/>
          <p:nvPr/>
        </p:nvSpPr>
        <p:spPr>
          <a:xfrm>
            <a:off x="91440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www.netzasset.com.br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Construção Institucional de Portfolios</dc:title>
  <dc:subject>PptxGenJS Presentation</dc:subject>
  <dc:creator>Netz Asset Management</dc:creator>
  <cp:lastModifiedBy>Netz Asset Management</cp:lastModifiedBy>
  <cp:revision>1</cp:revision>
  <dcterms:created xsi:type="dcterms:W3CDTF">2026-04-15T23:19:56Z</dcterms:created>
  <dcterms:modified xsi:type="dcterms:W3CDTF">2026-04-15T23:19:56Z</dcterms:modified>
</cp:coreProperties>
</file>